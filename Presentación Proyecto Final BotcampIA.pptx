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6" r:id="rId2"/>
    <p:sldId id="262" r:id="rId3"/>
    <p:sldId id="318" r:id="rId4"/>
    <p:sldId id="324" r:id="rId5"/>
    <p:sldId id="321" r:id="rId6"/>
    <p:sldId id="328" r:id="rId7"/>
    <p:sldId id="329" r:id="rId8"/>
    <p:sldId id="325" r:id="rId9"/>
    <p:sldId id="326" r:id="rId10"/>
    <p:sldId id="327" r:id="rId11"/>
    <p:sldId id="331" r:id="rId12"/>
    <p:sldId id="341" r:id="rId13"/>
    <p:sldId id="332" r:id="rId14"/>
    <p:sldId id="342" r:id="rId15"/>
    <p:sldId id="333" r:id="rId16"/>
    <p:sldId id="343" r:id="rId17"/>
    <p:sldId id="344" r:id="rId18"/>
    <p:sldId id="345" r:id="rId19"/>
    <p:sldId id="334" r:id="rId20"/>
    <p:sldId id="335" r:id="rId21"/>
    <p:sldId id="337" r:id="rId22"/>
    <p:sldId id="319" r:id="rId23"/>
    <p:sldId id="323" r:id="rId24"/>
    <p:sldId id="339" r:id="rId25"/>
    <p:sldId id="340" r:id="rId26"/>
    <p:sldId id="346" r:id="rId27"/>
    <p:sldId id="338" r:id="rId28"/>
  </p:sldIdLst>
  <p:sldSz cx="12192000" cy="6858000"/>
  <p:notesSz cx="6858000" cy="9144000"/>
  <p:custDataLst>
    <p:tags r:id="rId29"/>
  </p:custData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8EF1"/>
    <a:srgbClr val="009579"/>
    <a:srgbClr val="5FDFB4"/>
    <a:srgbClr val="CDF5E8"/>
    <a:srgbClr val="590A06"/>
    <a:srgbClr val="40382D"/>
    <a:srgbClr val="F2F2F2"/>
    <a:srgbClr val="FFD9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844887-76E8-4A30-8147-B6516AF4BFD2}" v="19" dt="2025-08-23T03:48:59.1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6867FC-A8DE-BEB7-2309-ADCA07866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85DAD0-4459-FE55-CECB-B90C12D2C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93660F-B513-D89E-3576-4B88D2721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23/08/2025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571D67-05D4-40F3-A596-B31971CA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F4F99C-EC70-5C40-C5B7-8479F75E2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173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71948-1D70-C81A-D90B-6F5DD40F0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83B3FA-BF34-9B88-F7A2-2664CC15F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7BB04C-53D9-2240-EFBB-03E5B4168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23/08/2025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E6789C-BF46-2BBB-306A-AA8A16DB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072ED8-D00A-CE94-25F5-8515F3C92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303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BDF99-07FE-98E0-669A-06E2C48D0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3847A3-4ACC-0908-790B-8E5C10CA9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C98C58-1CBC-EF20-F770-D885D5902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23/08/2025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18368C-D8B9-6D4B-57A6-21EA11D2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26A211-29B6-2EA7-7785-14359837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6801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22BBB-57E9-CC00-168E-0EDCF713B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C986D1-489A-F637-C584-85EE0DD2C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6C9512-AB68-C18C-97AE-C94FF97A2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EC1403-2C43-9EFA-9859-FEBA222EA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23/08/2025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79F71A-5E48-5A6D-32BC-AA984216C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642BCC-FC6F-7D4F-1548-44F4FAEA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347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A3E8A-6392-4937-1B6B-B6408F43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8097CE-196A-CA0F-7949-C689C4672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97850D-DDCE-2B8F-F886-A925AFA06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AA7365-B339-74BB-17AC-78D1AFE735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E086C7C-18AD-222A-2EFF-AB30D9A06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52AEE7-79F3-5DD2-FA9C-EB2EAB3C7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23/08/2025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9EF79DD-AEEE-F5CE-F2A2-AD118116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32CD2A8-BD40-A64D-FB29-42D2CB50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7809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DAC91-67EB-D444-D6C1-509B11711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35F173-A537-CFA8-9CEB-A70EAE646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23/08/2025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32DB93C-BC82-4122-1972-F06E5C8F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BAC77BA-0944-742F-1582-328DC6079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0123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45E1C4-6174-26B8-BD5E-BDCBAB7CE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23/08/2025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734D51A-9FE0-73DC-339A-AB18F8D0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A08305-8078-E9A9-D645-512AA096B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085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10F01-81DB-FAF2-7A28-667941AD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F57EBD-4DFF-A354-AD9C-CB83FD6D9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AC9778-1481-3414-D966-DDD4D4B41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A95F97-3D1A-4B0E-66FA-E1C4BC1EC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23/08/2025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3523B4-6940-4754-AC34-96F68AB4D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44A464-A5F8-2727-FE7E-191C9CA95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381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AEC7B-5DB1-3211-18A0-E7F4FE887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0BB9676-7850-63F3-E0CB-42C9EA4C0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87C856-D660-42A4-4801-BC1AD05CE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30EE0A-E498-7145-6A6F-ED94302B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23/08/2025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B442C6-A743-8656-79F3-DCC6EE339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FBB10F-38A0-1C19-8034-6EAE8B25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175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A361-5C18-6498-3353-2DF4A4261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BA6CAE-87E8-2B95-49CD-67B2AB65F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A343DC-D5DB-68F0-A3CB-6E8DF0D83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23/08/2025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18F4E6-EE01-42E3-D654-75BA15C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697BF0-7C74-0A8B-B7EC-276F993A7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627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2FC3F77-EBFF-9CDA-9940-B87F4A539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15511C0-2287-DE9F-400B-A7DCE2D5E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5E7372-80DE-6BC0-682F-AB54EF25C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AFBE-F2C4-4925-8955-5790DBA5559D}" type="datetimeFigureOut">
              <a:rPr lang="es-CO" smtClean="0"/>
              <a:t>23/08/2025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680DEB-D5A7-76F3-4FC9-A79BF92BE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7CD804-5A3C-6594-22F8-941FECCB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049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5869A09-FEF3-311C-B2BB-C81FA0F2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B04212-FCC9-4856-E626-1607418AD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2E3369-AC7F-096E-2AA8-DA9FB14B6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7AFBE-F2C4-4925-8955-5790DBA5559D}" type="datetimeFigureOut">
              <a:rPr lang="es-CO" smtClean="0"/>
              <a:t>23/08/2025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0568B0-646E-830F-43E3-53B516B50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ACDB0F-BB48-6B49-1F03-D4CC8E046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EB2F7-2FFB-4DD8-B77C-3FC4F01FFE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310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20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21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FD7D6-C94B-33A0-66D5-1708A5CE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women looking at a computer&#10;&#10;Description automatically generated">
            <a:extLst>
              <a:ext uri="{FF2B5EF4-FFF2-40B4-BE49-F238E27FC236}">
                <a16:creationId xmlns:a16="http://schemas.microsoft.com/office/drawing/2014/main" id="{FD60101D-D15C-8B23-546F-489FF7B89C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CCCE5D-B55F-9AED-DADC-103BB5E5180E}"/>
              </a:ext>
            </a:extLst>
          </p:cNvPr>
          <p:cNvSpPr txBox="1"/>
          <p:nvPr/>
        </p:nvSpPr>
        <p:spPr>
          <a:xfrm>
            <a:off x="893435" y="1523943"/>
            <a:ext cx="55998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Proyecto final del curso de Inteligencia Artificial </a:t>
            </a:r>
          </a:p>
          <a:p>
            <a:r>
              <a:rPr lang="es-ES" sz="200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Nivel Explorador.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B972161-FC61-E64E-5DBE-DC87A05D35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3435" y="3583085"/>
            <a:ext cx="2715709" cy="457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E9174A-FF5A-E63E-004B-437E1EA7F83A}"/>
              </a:ext>
            </a:extLst>
          </p:cNvPr>
          <p:cNvSpPr txBox="1"/>
          <p:nvPr/>
        </p:nvSpPr>
        <p:spPr>
          <a:xfrm>
            <a:off x="893435" y="2122627"/>
            <a:ext cx="6207967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Análisis Exploratorio de Datos sobre Pruebas físicas y antropométricas</a:t>
            </a:r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ea typeface="Roboto Black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CFC4058-8795-C367-3DB1-B16268A77F2E}"/>
              </a:ext>
            </a:extLst>
          </p:cNvPr>
          <p:cNvSpPr txBox="1"/>
          <p:nvPr/>
        </p:nvSpPr>
        <p:spPr>
          <a:xfrm>
            <a:off x="1056640" y="4074160"/>
            <a:ext cx="4145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Juan Sebastián Rivera Valencia </a:t>
            </a:r>
          </a:p>
          <a:p>
            <a:r>
              <a:rPr lang="es-CO" dirty="0" err="1">
                <a:solidFill>
                  <a:schemeClr val="bg1"/>
                </a:solidFill>
              </a:rPr>
              <a:t>Jhoan</a:t>
            </a:r>
            <a:r>
              <a:rPr lang="es-CO" dirty="0">
                <a:solidFill>
                  <a:schemeClr val="bg1"/>
                </a:solidFill>
              </a:rPr>
              <a:t> Sebastián </a:t>
            </a:r>
            <a:r>
              <a:rPr lang="es-CO" dirty="0" smtClean="0">
                <a:solidFill>
                  <a:schemeClr val="bg1"/>
                </a:solidFill>
              </a:rPr>
              <a:t>Martínez </a:t>
            </a:r>
            <a:r>
              <a:rPr lang="es-CO" dirty="0" err="1" smtClean="0">
                <a:solidFill>
                  <a:schemeClr val="bg1"/>
                </a:solidFill>
              </a:rPr>
              <a:t>Matrínez</a:t>
            </a:r>
            <a:endParaRPr lang="es-CO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6282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FC2DA7B-E466-2533-7FD0-4C7517D22C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CB02B3E-CA97-4862-D109-DC7622B7334E}"/>
              </a:ext>
            </a:extLst>
          </p:cNvPr>
          <p:cNvSpPr txBox="1"/>
          <p:nvPr/>
        </p:nvSpPr>
        <p:spPr>
          <a:xfrm>
            <a:off x="3048681" y="529647"/>
            <a:ext cx="60946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2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Introducción</a:t>
            </a:r>
            <a:endParaRPr lang="es-CO" sz="3200" dirty="0">
              <a:solidFill>
                <a:srgbClr val="A08EF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F9EAC25-1C67-465B-88BC-75192499A8ED}"/>
              </a:ext>
            </a:extLst>
          </p:cNvPr>
          <p:cNvSpPr txBox="1"/>
          <p:nvPr/>
        </p:nvSpPr>
        <p:spPr>
          <a:xfrm>
            <a:off x="2438400" y="1716900"/>
            <a:ext cx="79349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/>
              <a:t>Este análisis explora los datos de estudiantes en distintas instituciones educativas, considerando variables antropométricas y pruebas físicas.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Se busca identificar patrones, diferencias por sexo y relaciones entre variables</a:t>
            </a:r>
            <a:r>
              <a:rPr lang="es-ES" dirty="0"/>
              <a:t>.</a:t>
            </a:r>
          </a:p>
          <a:p>
            <a:endParaRPr lang="es-CO" dirty="0"/>
          </a:p>
        </p:txBody>
      </p:sp>
      <p:sp>
        <p:nvSpPr>
          <p:cNvPr id="7" name="AutoShape 2" descr="blob:https://web.whatsapp.com/2578f76a-eea3-4093-b34f-bfe0bc27529e">
            <a:extLst>
              <a:ext uri="{FF2B5EF4-FFF2-40B4-BE49-F238E27FC236}">
                <a16:creationId xmlns:a16="http://schemas.microsoft.com/office/drawing/2014/main" id="{BB22C221-0C52-4C9A-8E8F-87480518D9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7200" y="30095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4352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EFE67-4F5E-0909-9C28-EB473BE9A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4E1B251-CEDE-72F4-F613-FF70BF87AC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C1E3DBD-1757-E5D1-BE51-98E58E6B8425}"/>
              </a:ext>
            </a:extLst>
          </p:cNvPr>
          <p:cNvSpPr txBox="1"/>
          <p:nvPr/>
        </p:nvSpPr>
        <p:spPr>
          <a:xfrm>
            <a:off x="3048681" y="283340"/>
            <a:ext cx="60946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O</a:t>
            </a:r>
            <a:r>
              <a:rPr lang="es-ES" sz="2800" b="1" dirty="0" smtClean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bjetivo </a:t>
            </a:r>
            <a:r>
              <a:rPr lang="es-ES" sz="2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general y objetivos específicos </a:t>
            </a:r>
            <a:endParaRPr lang="es-CO" sz="2800" dirty="0">
              <a:solidFill>
                <a:srgbClr val="A08EF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A1F9C05-67DF-4FCF-8D01-040D27CD3B1F}"/>
              </a:ext>
            </a:extLst>
          </p:cNvPr>
          <p:cNvSpPr/>
          <p:nvPr/>
        </p:nvSpPr>
        <p:spPr>
          <a:xfrm>
            <a:off x="4759960" y="3429000"/>
            <a:ext cx="722884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Objetivos específicos:</a:t>
            </a:r>
          </a:p>
          <a:p>
            <a:r>
              <a:rPr lang="es-ES" dirty="0"/>
              <a:t>• Implementar modelo de predicción, para la prueba de </a:t>
            </a:r>
            <a:r>
              <a:rPr lang="es-ES" dirty="0" err="1"/>
              <a:t>Leger</a:t>
            </a:r>
            <a:r>
              <a:rPr lang="es-ES" dirty="0"/>
              <a:t> teniendo en cuenta otras variables de los pacientes/estudiantes. </a:t>
            </a:r>
          </a:p>
          <a:p>
            <a:r>
              <a:rPr lang="es-ES" dirty="0"/>
              <a:t>• Recopilación, extracción y depuración de datos para su posterior análisis </a:t>
            </a:r>
          </a:p>
          <a:p>
            <a:r>
              <a:rPr lang="es-ES" dirty="0"/>
              <a:t>• Mejorar la precisión en las predicciones y toma de decisiones.</a:t>
            </a:r>
          </a:p>
          <a:p>
            <a:r>
              <a:rPr lang="es-ES" dirty="0"/>
              <a:t>• Capacitar en el tema de interpretación de los resultados arrojados en el análisis exploratorio de los datos.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897B3D-C775-45C6-AEB1-562DED70509C}"/>
              </a:ext>
            </a:extLst>
          </p:cNvPr>
          <p:cNvSpPr/>
          <p:nvPr/>
        </p:nvSpPr>
        <p:spPr>
          <a:xfrm>
            <a:off x="406400" y="141984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Objetivo general: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ES" dirty="0"/>
              <a:t>esarrollar un sistema de analítica de datos, junto con un modelo predictivo para optimizar procesos operativos y de toma de decisiones, mejorar la calidad y aumentar la eficiencia.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9013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6A04E-1B02-2A96-DF50-8238B8F53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7A31CFEB-4A34-F463-0974-F06CC4EF90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56BE93C-FA6D-17B3-B36E-426295A1DFDC}"/>
              </a:ext>
            </a:extLst>
          </p:cNvPr>
          <p:cNvSpPr txBox="1"/>
          <p:nvPr/>
        </p:nvSpPr>
        <p:spPr>
          <a:xfrm>
            <a:off x="3048681" y="514787"/>
            <a:ext cx="60946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2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Metodología </a:t>
            </a:r>
            <a:endParaRPr lang="es-CO" sz="3200" dirty="0">
              <a:solidFill>
                <a:srgbClr val="A08EF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42148A9-7FA9-17A9-87DD-2EFA89975F0D}"/>
              </a:ext>
            </a:extLst>
          </p:cNvPr>
          <p:cNvSpPr txBox="1"/>
          <p:nvPr/>
        </p:nvSpPr>
        <p:spPr>
          <a:xfrm>
            <a:off x="2128520" y="1469191"/>
            <a:ext cx="793496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Font typeface="+mj-lt"/>
              <a:buAutoNum type="arabicPeriod"/>
            </a:pPr>
            <a:r>
              <a:rPr lang="es-ES" sz="2800" dirty="0"/>
              <a:t> Recolección de datos (Excel)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s-ES" sz="2800" dirty="0"/>
              <a:t> Limpieza y tratamiento de nulos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s-ES" sz="2800" dirty="0"/>
              <a:t> Análisis exploratorio (EDA)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s-ES" sz="2800" dirty="0"/>
              <a:t> Estadísticas descriptivas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s-ES" sz="2800" dirty="0"/>
              <a:t>Gráficas 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s-ES" sz="2800" dirty="0"/>
              <a:t>Matriz de correlación</a:t>
            </a:r>
          </a:p>
          <a:p>
            <a:pPr marL="514350" indent="-514350" algn="ctr">
              <a:buFont typeface="+mj-lt"/>
              <a:buAutoNum type="arabicPeriod"/>
            </a:pPr>
            <a:r>
              <a:rPr lang="es-ES" sz="2800" dirty="0"/>
              <a:t> Modelo predictivo (</a:t>
            </a:r>
            <a:r>
              <a:rPr lang="es-ES" sz="2800" dirty="0" err="1"/>
              <a:t>Leger</a:t>
            </a:r>
            <a:r>
              <a:rPr lang="es-ES" sz="2800" dirty="0"/>
              <a:t>)</a:t>
            </a:r>
          </a:p>
          <a:p>
            <a:pPr algn="ctr"/>
            <a:endParaRPr lang="es-CO" dirty="0"/>
          </a:p>
        </p:txBody>
      </p:sp>
      <p:sp>
        <p:nvSpPr>
          <p:cNvPr id="7" name="AutoShape 2" descr="blob:https://web.whatsapp.com/2578f76a-eea3-4093-b34f-bfe0bc27529e">
            <a:extLst>
              <a:ext uri="{FF2B5EF4-FFF2-40B4-BE49-F238E27FC236}">
                <a16:creationId xmlns:a16="http://schemas.microsoft.com/office/drawing/2014/main" id="{3D87C68F-9DD5-BDDA-F04D-66EBBF1DD5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7200" y="30095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4811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1C4EF-A4A0-3131-700D-7965270C0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3EA17F8-F3F4-B2AE-7386-DB54197F58E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DEF252C-A8DC-BFEC-56E3-730216CC02B6}"/>
              </a:ext>
            </a:extLst>
          </p:cNvPr>
          <p:cNvSpPr txBox="1"/>
          <p:nvPr/>
        </p:nvSpPr>
        <p:spPr>
          <a:xfrm>
            <a:off x="3048681" y="246497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Metodología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96F79B-9C2C-3DF7-CA8F-BC6C6525D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20" y="659011"/>
            <a:ext cx="11551560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Flujograma:</a:t>
            </a: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Importación de datos (Excel).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Limpieza de datos (nulos, duplicados, estandarización de nombres).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Exploración y análisis descriptivo.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Visualización (histogramas, 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boxplots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correlaciones).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Modelado.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Conclusiones.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Variables cuantitativas:</a:t>
            </a: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Peso, Talla, Envergadura, Balón medicinal, Salto largo, 10x5 (s), 30 m lanzados (s), Wells, 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Leger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Velocidad máxima.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Análisis exploratorio (EDA):</a:t>
            </a:r>
            <a:endParaRPr lang="es-CO" altLang="es-CO" sz="1600" dirty="0"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Estadísticas descriptivas.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Histogramas y 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Boxplots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comparar distribuciones.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Análisis de correlación entre variables físicas y pruebas de rendimiento.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 predictivo (</a:t>
            </a:r>
            <a:r>
              <a:rPr kumimoji="0" lang="es-CO" altLang="es-CO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Leger</a:t>
            </a:r>
            <a:r>
              <a:rPr kumimoji="0" lang="es-CO" altLang="es-CO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Selección de la prueba de 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Leger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como variable objetivo.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Identificación de variables </a:t>
            </a:r>
            <a:r>
              <a:rPr kumimoji="0" lang="es-CO" altLang="es-CO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predictoras</a:t>
            </a: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O" altLang="es-CO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(Salto largo, 30 m lanzados, PR (Potencia Relativa), IMC, IA(</a:t>
            </a:r>
            <a:r>
              <a:rPr lang="es-CO" altLang="es-CO" sz="1600" dirty="0" smtClean="0">
                <a:latin typeface="Arial" panose="020B0604020202020204" pitchFamily="34" charset="0"/>
              </a:rPr>
              <a:t>Í</a:t>
            </a:r>
            <a:r>
              <a:rPr kumimoji="0" lang="es-CO" altLang="es-CO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ndice de Agilidad)).</a:t>
            </a:r>
            <a:endParaRPr kumimoji="0" lang="es-CO" altLang="es-C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Entrenamiento y validación del modelo.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CO" altLang="es-CO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Interpretación de resultados y comparación con los datos reales.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0864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66769-48DA-D88F-4C38-EFA7E7073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34C0443-9CF1-6077-5A20-F747FCB56E9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222F4A1-E343-9F41-2FCA-83981C0A39D0}"/>
              </a:ext>
            </a:extLst>
          </p:cNvPr>
          <p:cNvSpPr txBox="1"/>
          <p:nvPr/>
        </p:nvSpPr>
        <p:spPr>
          <a:xfrm>
            <a:off x="3185841" y="247453"/>
            <a:ext cx="60946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200" dirty="0">
                <a:solidFill>
                  <a:srgbClr val="A08EF1"/>
                </a:solidFill>
              </a:rPr>
              <a:t>Diagrama de sectores de hombres y mujeres</a:t>
            </a:r>
          </a:p>
        </p:txBody>
      </p:sp>
      <p:sp>
        <p:nvSpPr>
          <p:cNvPr id="7" name="AutoShape 2" descr="blob:https://web.whatsapp.com/2578f76a-eea3-4093-b34f-bfe0bc27529e">
            <a:extLst>
              <a:ext uri="{FF2B5EF4-FFF2-40B4-BE49-F238E27FC236}">
                <a16:creationId xmlns:a16="http://schemas.microsoft.com/office/drawing/2014/main" id="{33224489-1960-BE46-5A76-D8EB654213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7200" y="30095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377AC3E-A71B-C7A2-F778-65CD5904A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4023" y="1404655"/>
            <a:ext cx="4143953" cy="40486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69851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5C1F4-5029-21D2-BF7D-19D19D39D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8CF8001-2329-B965-4BCD-011071F038A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2E6352E-47CD-5C32-A40C-E6E396AB62BE}"/>
              </a:ext>
            </a:extLst>
          </p:cNvPr>
          <p:cNvSpPr txBox="1"/>
          <p:nvPr/>
        </p:nvSpPr>
        <p:spPr>
          <a:xfrm>
            <a:off x="3185841" y="247453"/>
            <a:ext cx="60946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200" dirty="0">
                <a:solidFill>
                  <a:srgbClr val="A08EF1"/>
                </a:solidFill>
              </a:rPr>
              <a:t>mujeres</a:t>
            </a:r>
          </a:p>
        </p:txBody>
      </p:sp>
      <p:sp>
        <p:nvSpPr>
          <p:cNvPr id="7" name="AutoShape 2" descr="blob:https://web.whatsapp.com/2578f76a-eea3-4093-b34f-bfe0bc27529e">
            <a:extLst>
              <a:ext uri="{FF2B5EF4-FFF2-40B4-BE49-F238E27FC236}">
                <a16:creationId xmlns:a16="http://schemas.microsoft.com/office/drawing/2014/main" id="{63F73A5A-635A-7B1B-30C1-7D0B240683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7200" y="30095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4BC9E09-804F-ECE3-D594-59FBA8934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4340" y="0"/>
            <a:ext cx="5477639" cy="614448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66424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5BF32-7BA6-CA02-3F36-80BF4947E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CA6D015-CE10-CECF-F7FA-AE97F8F75A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C446A9F-A9A6-E6E2-8E4E-E30106F20CDD}"/>
              </a:ext>
            </a:extLst>
          </p:cNvPr>
          <p:cNvSpPr txBox="1"/>
          <p:nvPr/>
        </p:nvSpPr>
        <p:spPr>
          <a:xfrm>
            <a:off x="3185841" y="247453"/>
            <a:ext cx="60946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2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Histograma de tallas  </a:t>
            </a:r>
            <a:endParaRPr lang="es-CO" sz="3200" dirty="0">
              <a:solidFill>
                <a:srgbClr val="A08EF1"/>
              </a:solidFill>
            </a:endParaRPr>
          </a:p>
        </p:txBody>
      </p:sp>
      <p:sp>
        <p:nvSpPr>
          <p:cNvPr id="7" name="AutoShape 2" descr="blob:https://web.whatsapp.com/2578f76a-eea3-4093-b34f-bfe0bc27529e">
            <a:extLst>
              <a:ext uri="{FF2B5EF4-FFF2-40B4-BE49-F238E27FC236}">
                <a16:creationId xmlns:a16="http://schemas.microsoft.com/office/drawing/2014/main" id="{427A2D2D-1B91-B71B-8D60-7D59E907DB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7200" y="30095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1242639-E7A5-6166-8BFA-96D733E8A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0160" y="851417"/>
            <a:ext cx="7040880" cy="47208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02509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1ACE2-7C4C-F8BC-9ECC-E8DD3B567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E0398B1-C62F-F515-256F-562ACFA02F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42FA428-58B3-FB65-F683-E13971D82720}"/>
              </a:ext>
            </a:extLst>
          </p:cNvPr>
          <p:cNvSpPr txBox="1"/>
          <p:nvPr/>
        </p:nvSpPr>
        <p:spPr>
          <a:xfrm>
            <a:off x="3185841" y="247453"/>
            <a:ext cx="60946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200" b="1" dirty="0" err="1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Boxplot</a:t>
            </a:r>
            <a:r>
              <a:rPr lang="es-CO" sz="32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de la talla por sexo tallas  </a:t>
            </a:r>
            <a:endParaRPr lang="es-CO" sz="3200" dirty="0">
              <a:solidFill>
                <a:srgbClr val="A08EF1"/>
              </a:solidFill>
            </a:endParaRPr>
          </a:p>
        </p:txBody>
      </p:sp>
      <p:sp>
        <p:nvSpPr>
          <p:cNvPr id="7" name="AutoShape 2" descr="blob:https://web.whatsapp.com/2578f76a-eea3-4093-b34f-bfe0bc27529e">
            <a:extLst>
              <a:ext uri="{FF2B5EF4-FFF2-40B4-BE49-F238E27FC236}">
                <a16:creationId xmlns:a16="http://schemas.microsoft.com/office/drawing/2014/main" id="{863AB9B0-1EC6-4F23-6FB6-6096EFFA23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7200" y="30095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11D8148-8FBF-B824-23ED-82BEB8574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270" y="832228"/>
            <a:ext cx="6635254" cy="515014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04227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1A47D-A514-2DA8-1894-8B0DEFCD8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38187AE-D185-0888-E4FA-0AAE50AB7E0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AutoShape 2" descr="blob:https://web.whatsapp.com/2578f76a-eea3-4093-b34f-bfe0bc27529e">
            <a:extLst>
              <a:ext uri="{FF2B5EF4-FFF2-40B4-BE49-F238E27FC236}">
                <a16:creationId xmlns:a16="http://schemas.microsoft.com/office/drawing/2014/main" id="{D45C9132-99CB-AC59-1C28-AD234EA2B0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7200" y="30095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48AF55-931B-CFD9-3C16-070CD85AB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0961" y="7102"/>
            <a:ext cx="7691120" cy="59523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77841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63C11-EEB4-0B02-0609-E1942606A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F2F279BD-314C-A9A5-AD87-4C72432405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32424CE-BAED-9DA2-5C30-6F8322F4E5CA}"/>
              </a:ext>
            </a:extLst>
          </p:cNvPr>
          <p:cNvSpPr txBox="1"/>
          <p:nvPr/>
        </p:nvSpPr>
        <p:spPr>
          <a:xfrm>
            <a:off x="3048681" y="425419"/>
            <a:ext cx="60946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200" dirty="0" smtClean="0">
                <a:solidFill>
                  <a:srgbClr val="A08EF1"/>
                </a:solidFill>
              </a:rPr>
              <a:t>Agregación de </a:t>
            </a:r>
            <a:r>
              <a:rPr lang="es-CO" sz="3200" dirty="0">
                <a:solidFill>
                  <a:srgbClr val="A08EF1"/>
                </a:solidFill>
              </a:rPr>
              <a:t>Columnas de:</a:t>
            </a:r>
          </a:p>
        </p:txBody>
      </p:sp>
      <p:sp>
        <p:nvSpPr>
          <p:cNvPr id="7" name="AutoShape 2" descr="blob:https://web.whatsapp.com/2578f76a-eea3-4093-b34f-bfe0bc27529e">
            <a:extLst>
              <a:ext uri="{FF2B5EF4-FFF2-40B4-BE49-F238E27FC236}">
                <a16:creationId xmlns:a16="http://schemas.microsoft.com/office/drawing/2014/main" id="{9B500C4C-6955-ADD6-BC36-ADDD08607E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7200" y="30095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15C3D1E-0D2E-E8CD-48DF-BE6B7C9A0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210" y="2047105"/>
            <a:ext cx="8659580" cy="222971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2583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63C11-EEB4-0B02-0609-E1942606A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F2F279BD-314C-A9A5-AD87-4C724324056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32424CE-BAED-9DA2-5C30-6F8322F4E5CA}"/>
              </a:ext>
            </a:extLst>
          </p:cNvPr>
          <p:cNvSpPr txBox="1"/>
          <p:nvPr/>
        </p:nvSpPr>
        <p:spPr>
          <a:xfrm>
            <a:off x="2179982" y="404910"/>
            <a:ext cx="7832035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500" dirty="0" smtClean="0">
                <a:solidFill>
                  <a:srgbClr val="A08EF1"/>
                </a:solidFill>
              </a:rPr>
              <a:t>Agregar Clasificación de IMC y mostrar </a:t>
            </a:r>
            <a:r>
              <a:rPr lang="es-ES" sz="2500" dirty="0">
                <a:solidFill>
                  <a:srgbClr val="A08EF1"/>
                </a:solidFill>
              </a:rPr>
              <a:t>p</a:t>
            </a:r>
            <a:r>
              <a:rPr lang="es-ES" sz="2500" dirty="0" smtClean="0">
                <a:solidFill>
                  <a:srgbClr val="A08EF1"/>
                </a:solidFill>
              </a:rPr>
              <a:t>orcentajes </a:t>
            </a:r>
            <a:r>
              <a:rPr lang="es-ES" sz="2500" dirty="0">
                <a:solidFill>
                  <a:srgbClr val="A08EF1"/>
                </a:solidFill>
              </a:rPr>
              <a:t>de bajo peso (IMC &lt; 18,5), peso normal (18,5 &lt; IMC &lt; 24,9), sobrepeso (25 &lt; IMC &lt; 29.9) y obesidad (IMC &gt; 29.9)</a:t>
            </a:r>
            <a:r>
              <a:rPr lang="es-CO" sz="2500" dirty="0" smtClean="0">
                <a:solidFill>
                  <a:srgbClr val="A08EF1"/>
                </a:solidFill>
              </a:rPr>
              <a:t>:</a:t>
            </a:r>
            <a:endParaRPr lang="es-CO" sz="2500" dirty="0">
              <a:solidFill>
                <a:srgbClr val="A08EF1"/>
              </a:solidFill>
            </a:endParaRPr>
          </a:p>
        </p:txBody>
      </p:sp>
      <p:sp>
        <p:nvSpPr>
          <p:cNvPr id="7" name="AutoShape 2" descr="blob:https://web.whatsapp.com/2578f76a-eea3-4093-b34f-bfe0bc27529e">
            <a:extLst>
              <a:ext uri="{FF2B5EF4-FFF2-40B4-BE49-F238E27FC236}">
                <a16:creationId xmlns:a16="http://schemas.microsoft.com/office/drawing/2014/main" id="{9B500C4C-6955-ADD6-BC36-ADDD08607E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7200" y="30095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8451" y="2171260"/>
            <a:ext cx="5915095" cy="228620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88302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2B848-DC6C-523E-A5FE-504E969A5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F57E80E9-E17B-181B-D705-8820B97CB1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E00B56B-7461-706C-F976-218391BEA518}"/>
              </a:ext>
            </a:extLst>
          </p:cNvPr>
          <p:cNvSpPr txBox="1"/>
          <p:nvPr/>
        </p:nvSpPr>
        <p:spPr>
          <a:xfrm>
            <a:off x="3185841" y="247453"/>
            <a:ext cx="60946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200" dirty="0">
                <a:solidFill>
                  <a:srgbClr val="A08EF1"/>
                </a:solidFill>
              </a:rPr>
              <a:t>:</a:t>
            </a:r>
          </a:p>
        </p:txBody>
      </p:sp>
      <p:sp>
        <p:nvSpPr>
          <p:cNvPr id="7" name="AutoShape 2" descr="blob:https://web.whatsapp.com/2578f76a-eea3-4093-b34f-bfe0bc27529e">
            <a:extLst>
              <a:ext uri="{FF2B5EF4-FFF2-40B4-BE49-F238E27FC236}">
                <a16:creationId xmlns:a16="http://schemas.microsoft.com/office/drawing/2014/main" id="{0D43801B-74E8-C909-FBCA-8335F41865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7200" y="30095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D3CF216-C3D4-7BC9-6F11-C7CEFE70F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2313" y="55919"/>
            <a:ext cx="7712994" cy="5907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686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23D68-F319-918B-ADDF-06D051D8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DCC2BC7-72CA-D71D-8FF5-4E7F3C6985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A1C98E9-ED93-B4B5-730B-3E32FE644915}"/>
              </a:ext>
            </a:extLst>
          </p:cNvPr>
          <p:cNvSpPr txBox="1"/>
          <p:nvPr/>
        </p:nvSpPr>
        <p:spPr>
          <a:xfrm>
            <a:off x="3048681" y="368433"/>
            <a:ext cx="60946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/>
              <a:t>¿Los estudiantes con IMC normal tienen mejor IA (</a:t>
            </a:r>
            <a:r>
              <a:rPr lang="es-ES" sz="2400" b="1" dirty="0" err="1"/>
              <a:t>Indice</a:t>
            </a:r>
            <a:r>
              <a:rPr lang="es-ES" sz="2400" b="1" dirty="0"/>
              <a:t> de Agilidad) y PR (Potencia Relativa) que los de sobrepeso?</a:t>
            </a:r>
            <a:endParaRPr lang="es-ES" sz="2400" b="1" dirty="0"/>
          </a:p>
        </p:txBody>
      </p:sp>
      <p:sp>
        <p:nvSpPr>
          <p:cNvPr id="7" name="AutoShape 2" descr="blob:https://web.whatsapp.com/2578f76a-eea3-4093-b34f-bfe0bc27529e">
            <a:extLst>
              <a:ext uri="{FF2B5EF4-FFF2-40B4-BE49-F238E27FC236}">
                <a16:creationId xmlns:a16="http://schemas.microsoft.com/office/drawing/2014/main" id="{AD709C64-0EB1-42D3-7DA4-A1B7D1795E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7200" y="30095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82751"/>
            <a:ext cx="12192000" cy="24632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54085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23D68-F319-918B-ADDF-06D051D8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DCC2BC7-72CA-D71D-8FF5-4E7F3C6985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A1C98E9-ED93-B4B5-730B-3E32FE644915}"/>
              </a:ext>
            </a:extLst>
          </p:cNvPr>
          <p:cNvSpPr txBox="1"/>
          <p:nvPr/>
        </p:nvSpPr>
        <p:spPr>
          <a:xfrm>
            <a:off x="3048681" y="368433"/>
            <a:ext cx="60946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/>
              <a:t>Medias de prueba de </a:t>
            </a:r>
            <a:r>
              <a:rPr lang="es-ES" sz="2400" b="1" dirty="0" err="1"/>
              <a:t>Leger</a:t>
            </a:r>
            <a:r>
              <a:rPr lang="es-ES" sz="2400" b="1" dirty="0"/>
              <a:t> por </a:t>
            </a:r>
            <a:r>
              <a:rPr lang="es-ES" sz="2400" b="1" dirty="0" err="1"/>
              <a:t>Categoria</a:t>
            </a:r>
            <a:r>
              <a:rPr lang="es-ES" sz="2400" b="1" dirty="0"/>
              <a:t> de IMC (Peso bajo, peso normal, sobrepeso y obesidad</a:t>
            </a:r>
            <a:r>
              <a:rPr lang="es-ES" sz="2400" b="1" dirty="0" smtClean="0"/>
              <a:t>)</a:t>
            </a:r>
            <a:endParaRPr lang="es-ES" sz="2400" b="1" dirty="0"/>
          </a:p>
        </p:txBody>
      </p:sp>
      <p:sp>
        <p:nvSpPr>
          <p:cNvPr id="7" name="AutoShape 2" descr="blob:https://web.whatsapp.com/2578f76a-eea3-4093-b34f-bfe0bc27529e">
            <a:extLst>
              <a:ext uri="{FF2B5EF4-FFF2-40B4-BE49-F238E27FC236}">
                <a16:creationId xmlns:a16="http://schemas.microsoft.com/office/drawing/2014/main" id="{AD709C64-0EB1-42D3-7DA4-A1B7D1795E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7200" y="30095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DCDDD7B-6752-C9B4-331B-B5C595F39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501" y="1937194"/>
            <a:ext cx="5709318" cy="275433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92610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23D68-F319-918B-ADDF-06D051D8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DCC2BC7-72CA-D71D-8FF5-4E7F3C6985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A1C98E9-ED93-B4B5-730B-3E32FE644915}"/>
              </a:ext>
            </a:extLst>
          </p:cNvPr>
          <p:cNvSpPr txBox="1"/>
          <p:nvPr/>
        </p:nvSpPr>
        <p:spPr>
          <a:xfrm>
            <a:off x="3048681" y="553099"/>
            <a:ext cx="60946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Medias de IA (</a:t>
            </a:r>
            <a:r>
              <a:rPr lang="pt-BR" sz="2400" b="1" dirty="0" err="1"/>
              <a:t>Indice</a:t>
            </a:r>
            <a:r>
              <a:rPr lang="pt-BR" sz="2400" b="1" dirty="0"/>
              <a:t> de </a:t>
            </a:r>
            <a:r>
              <a:rPr lang="pt-BR" sz="2400" b="1" dirty="0" err="1"/>
              <a:t>Agilidad</a:t>
            </a:r>
            <a:r>
              <a:rPr lang="pt-BR" sz="2400" b="1" dirty="0"/>
              <a:t>) por Categoria de IMC</a:t>
            </a:r>
            <a:endParaRPr lang="es-ES" sz="2400" b="1" dirty="0"/>
          </a:p>
        </p:txBody>
      </p:sp>
      <p:sp>
        <p:nvSpPr>
          <p:cNvPr id="7" name="AutoShape 2" descr="blob:https://web.whatsapp.com/2578f76a-eea3-4093-b34f-bfe0bc27529e">
            <a:extLst>
              <a:ext uri="{FF2B5EF4-FFF2-40B4-BE49-F238E27FC236}">
                <a16:creationId xmlns:a16="http://schemas.microsoft.com/office/drawing/2014/main" id="{AD709C64-0EB1-42D3-7DA4-A1B7D1795E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7200" y="30095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256" y="1937195"/>
            <a:ext cx="7012267" cy="25658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68572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23D68-F319-918B-ADDF-06D051D8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DCC2BC7-72CA-D71D-8FF5-4E7F3C6985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A1C98E9-ED93-B4B5-730B-3E32FE644915}"/>
              </a:ext>
            </a:extLst>
          </p:cNvPr>
          <p:cNvSpPr txBox="1"/>
          <p:nvPr/>
        </p:nvSpPr>
        <p:spPr>
          <a:xfrm>
            <a:off x="3048681" y="662055"/>
            <a:ext cx="60946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Medias de </a:t>
            </a:r>
            <a:r>
              <a:rPr lang="pt-BR" sz="2400" b="1" dirty="0" err="1"/>
              <a:t>Velocidad</a:t>
            </a:r>
            <a:r>
              <a:rPr lang="pt-BR" sz="2400" b="1" dirty="0"/>
              <a:t> </a:t>
            </a:r>
            <a:r>
              <a:rPr lang="pt-BR" sz="2400" b="1" dirty="0" smtClean="0"/>
              <a:t>Máxima </a:t>
            </a:r>
            <a:r>
              <a:rPr lang="pt-BR" sz="2400" b="1" dirty="0"/>
              <a:t>por Categoria de IMC</a:t>
            </a:r>
            <a:endParaRPr lang="es-ES" sz="2400" b="1" dirty="0"/>
          </a:p>
        </p:txBody>
      </p:sp>
      <p:sp>
        <p:nvSpPr>
          <p:cNvPr id="7" name="AutoShape 2" descr="blob:https://web.whatsapp.com/2578f76a-eea3-4093-b34f-bfe0bc27529e">
            <a:extLst>
              <a:ext uri="{FF2B5EF4-FFF2-40B4-BE49-F238E27FC236}">
                <a16:creationId xmlns:a16="http://schemas.microsoft.com/office/drawing/2014/main" id="{AD709C64-0EB1-42D3-7DA4-A1B7D1795E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7200" y="30095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2391" y="2132303"/>
            <a:ext cx="6167217" cy="259339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05861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23D68-F319-918B-ADDF-06D051D8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DCC2BC7-72CA-D71D-8FF5-4E7F3C6985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A1C98E9-ED93-B4B5-730B-3E32FE644915}"/>
              </a:ext>
            </a:extLst>
          </p:cNvPr>
          <p:cNvSpPr txBox="1"/>
          <p:nvPr/>
        </p:nvSpPr>
        <p:spPr>
          <a:xfrm>
            <a:off x="3048681" y="673784"/>
            <a:ext cx="60946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Medias de PR (Potencia Relativa) por Categoria de IMC</a:t>
            </a:r>
            <a:endParaRPr lang="es-ES" sz="2400" b="1" dirty="0"/>
          </a:p>
        </p:txBody>
      </p:sp>
      <p:sp>
        <p:nvSpPr>
          <p:cNvPr id="7" name="AutoShape 2" descr="blob:https://web.whatsapp.com/2578f76a-eea3-4093-b34f-bfe0bc27529e">
            <a:extLst>
              <a:ext uri="{FF2B5EF4-FFF2-40B4-BE49-F238E27FC236}">
                <a16:creationId xmlns:a16="http://schemas.microsoft.com/office/drawing/2014/main" id="{AD709C64-0EB1-42D3-7DA4-A1B7D1795E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7200" y="30095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003" y="2186026"/>
            <a:ext cx="6797993" cy="24859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05329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26676-FD8E-146C-4DFF-44DF68AD0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DB94019-BC82-E02C-20A4-DF39861CDB8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DA8482D-457B-C386-F33C-214AB28A6DE5}"/>
              </a:ext>
            </a:extLst>
          </p:cNvPr>
          <p:cNvSpPr txBox="1"/>
          <p:nvPr/>
        </p:nvSpPr>
        <p:spPr>
          <a:xfrm>
            <a:off x="3048681" y="518322"/>
            <a:ext cx="60946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400" b="1" dirty="0"/>
              <a:t>Medias de tallas (Estatura) por </a:t>
            </a:r>
            <a:r>
              <a:rPr lang="es-CO" sz="2400" b="1" dirty="0" err="1"/>
              <a:t>Categoria</a:t>
            </a:r>
            <a:r>
              <a:rPr lang="es-CO" sz="2400" b="1" dirty="0"/>
              <a:t> de IMC</a:t>
            </a:r>
            <a:r>
              <a:rPr lang="es-ES" sz="2400" b="1" dirty="0"/>
              <a:t>: </a:t>
            </a:r>
          </a:p>
        </p:txBody>
      </p:sp>
      <p:sp>
        <p:nvSpPr>
          <p:cNvPr id="7" name="AutoShape 2" descr="blob:https://web.whatsapp.com/2578f76a-eea3-4093-b34f-bfe0bc27529e">
            <a:extLst>
              <a:ext uri="{FF2B5EF4-FFF2-40B4-BE49-F238E27FC236}">
                <a16:creationId xmlns:a16="http://schemas.microsoft.com/office/drawing/2014/main" id="{CDEB9D7F-B0E8-7E47-DED4-96183C37DC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7200" y="30095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E033F04-A90F-834D-C663-4A71D3E7D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89" y="1773388"/>
            <a:ext cx="5135821" cy="27771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2981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D220B-EDDD-411A-E2DD-B94FFC10E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DF2EFBD-7E3E-ABE2-DBC3-075BD7BF31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9071D82-E2E8-A06F-EA3E-FAA4A0C20B54}"/>
              </a:ext>
            </a:extLst>
          </p:cNvPr>
          <p:cNvSpPr txBox="1"/>
          <p:nvPr/>
        </p:nvSpPr>
        <p:spPr>
          <a:xfrm>
            <a:off x="3048681" y="564996"/>
            <a:ext cx="6094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/>
              <a:t>¿Cuál grupo es más alto, Hombres o mujeres?: </a:t>
            </a:r>
          </a:p>
        </p:txBody>
      </p:sp>
      <p:sp>
        <p:nvSpPr>
          <p:cNvPr id="7" name="AutoShape 2" descr="blob:https://web.whatsapp.com/2578f76a-eea3-4093-b34f-bfe0bc27529e">
            <a:extLst>
              <a:ext uri="{FF2B5EF4-FFF2-40B4-BE49-F238E27FC236}">
                <a16:creationId xmlns:a16="http://schemas.microsoft.com/office/drawing/2014/main" id="{6656F6E6-DAC0-DAE2-AB3A-8FC8327B8C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7200" y="30095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3904FA-7E3F-DF9D-5309-19D017F9A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994" y="1868655"/>
            <a:ext cx="7932332" cy="18687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41305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904D8-1F88-C490-E11D-DA518663A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9295E6C-462E-A82F-6ECA-F35FA604A8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42AF998-7933-F645-6866-DB40CE3A0F2E}"/>
              </a:ext>
            </a:extLst>
          </p:cNvPr>
          <p:cNvSpPr txBox="1"/>
          <p:nvPr/>
        </p:nvSpPr>
        <p:spPr>
          <a:xfrm>
            <a:off x="3048681" y="605704"/>
            <a:ext cx="6094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/>
              <a:t>Conclusiones del análisis exploratorio </a:t>
            </a:r>
          </a:p>
        </p:txBody>
      </p:sp>
      <p:sp>
        <p:nvSpPr>
          <p:cNvPr id="7" name="AutoShape 2" descr="blob:https://web.whatsapp.com/2578f76a-eea3-4093-b34f-bfe0bc27529e">
            <a:extLst>
              <a:ext uri="{FF2B5EF4-FFF2-40B4-BE49-F238E27FC236}">
                <a16:creationId xmlns:a16="http://schemas.microsoft.com/office/drawing/2014/main" id="{B65F5278-AF24-9EC5-A26A-C0C00B78AE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07200" y="30095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D821453-8CD7-46A4-1BE6-DC7CDFA98A92}"/>
              </a:ext>
            </a:extLst>
          </p:cNvPr>
          <p:cNvSpPr txBox="1"/>
          <p:nvPr/>
        </p:nvSpPr>
        <p:spPr>
          <a:xfrm>
            <a:off x="2003502" y="1166842"/>
            <a:ext cx="818499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1. El rendimiento en el test de </a:t>
            </a:r>
            <a:r>
              <a:rPr lang="es-ES" dirty="0" err="1"/>
              <a:t>Léger</a:t>
            </a:r>
            <a:r>
              <a:rPr lang="es-ES" dirty="0"/>
              <a:t> no depende solo de la velocidad máxima, sino de una combinación de potencia, agilidad y composición corporal.</a:t>
            </a:r>
          </a:p>
          <a:p>
            <a:pPr algn="just"/>
            <a:r>
              <a:rPr lang="es-ES" dirty="0"/>
              <a:t>   </a:t>
            </a:r>
          </a:p>
          <a:p>
            <a:pPr algn="just"/>
            <a:r>
              <a:rPr lang="es-ES" dirty="0"/>
              <a:t>2. El IMC es un factor diferenciador: un exceso de peso corporal se asocia a menor rendimiento.</a:t>
            </a:r>
          </a:p>
          <a:p>
            <a:pPr algn="just"/>
            <a:r>
              <a:rPr lang="es-ES" dirty="0"/>
              <a:t>   </a:t>
            </a:r>
          </a:p>
          <a:p>
            <a:pPr algn="just"/>
            <a:r>
              <a:rPr lang="es-ES" dirty="0"/>
              <a:t>3. Los indicadores derivados (IA, PR, VR, IVE) aportan más poder explicativo que las medidas brutas.</a:t>
            </a:r>
          </a:p>
          <a:p>
            <a:pPr algn="just"/>
            <a:r>
              <a:rPr lang="es-ES" dirty="0"/>
              <a:t>   </a:t>
            </a:r>
          </a:p>
          <a:p>
            <a:pPr algn="just"/>
            <a:r>
              <a:rPr lang="es-ES" dirty="0"/>
              <a:t>4. Este tipo de modelos pueden ayudar a docentes y entrenadores a identificar perfiles de estudiantes (</a:t>
            </a:r>
            <a:r>
              <a:rPr lang="es-ES" dirty="0" err="1"/>
              <a:t>ej</a:t>
            </a:r>
            <a:r>
              <a:rPr lang="es-ES" dirty="0"/>
              <a:t>: potentes, veloces, resistentes) y diseñar entrenamientos personalizados.</a:t>
            </a:r>
          </a:p>
          <a:p>
            <a:pPr algn="just"/>
            <a:r>
              <a:rPr lang="es-ES" dirty="0"/>
              <a:t>   </a:t>
            </a:r>
          </a:p>
          <a:p>
            <a:pPr algn="just"/>
            <a:r>
              <a:rPr lang="es-ES" dirty="0"/>
              <a:t>5. Los estudiantes con IMC normal (18.5 &lt; IMC &lt; 24.9) tienden a mostrar un equilibrio óptimo entre agilidad, potencia y resistencia.</a:t>
            </a:r>
          </a:p>
          <a:p>
            <a:endParaRPr lang="es-CO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94777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3A271-E6EB-E4A1-2189-AE784C418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00A7F80-B567-0B64-10DD-C7F38A46C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90B4249-ED04-0453-12F1-E21CFD129839}"/>
              </a:ext>
            </a:extLst>
          </p:cNvPr>
          <p:cNvSpPr txBox="1"/>
          <p:nvPr/>
        </p:nvSpPr>
        <p:spPr>
          <a:xfrm>
            <a:off x="3048681" y="814254"/>
            <a:ext cx="60946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J</a:t>
            </a:r>
            <a:r>
              <a:rPr lang="en-US" sz="3600" b="1" dirty="0" err="1" smtClean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ustificación</a:t>
            </a:r>
            <a:r>
              <a:rPr lang="en-US" sz="1800" b="1" dirty="0" smtClean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</a:t>
            </a:r>
            <a:endParaRPr lang="es-CO" dirty="0">
              <a:solidFill>
                <a:srgbClr val="A08EF1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EA9A76-D495-4A0D-AE5A-1E20DC650965}"/>
              </a:ext>
            </a:extLst>
          </p:cNvPr>
          <p:cNvSpPr/>
          <p:nvPr/>
        </p:nvSpPr>
        <p:spPr>
          <a:xfrm>
            <a:off x="3048681" y="2274839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ES" sz="2400" dirty="0"/>
              <a:t>El uso de un modelo predictivo basado en la prueba de </a:t>
            </a:r>
            <a:r>
              <a:rPr lang="es-ES" sz="2400" dirty="0" err="1"/>
              <a:t>Leger</a:t>
            </a:r>
            <a:r>
              <a:rPr lang="es-ES" sz="2400" dirty="0"/>
              <a:t> permite evaluar de manera objetiva la capacidad aeróbica de los estudiantes y proyectar su rendimiento en función de variables antropométricas como </a:t>
            </a:r>
            <a:r>
              <a:rPr lang="es-ES" sz="2400" dirty="0" smtClean="0"/>
              <a:t>Salto largo, IMC, PR (Potencia Relativa), IA (</a:t>
            </a:r>
            <a:r>
              <a:rPr lang="es-ES" sz="2400" dirty="0" err="1" smtClean="0"/>
              <a:t>Indice</a:t>
            </a:r>
            <a:r>
              <a:rPr lang="es-ES" sz="2400" dirty="0" smtClean="0"/>
              <a:t> de Agilidad), etc.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0650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D9266-94D4-E379-CC47-59C0B75CC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0B13922-F6E0-B8A9-3ADB-96175AA124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989C9C0-A9B9-E8DC-0C20-51067E8AB9C8}"/>
              </a:ext>
            </a:extLst>
          </p:cNvPr>
          <p:cNvSpPr txBox="1"/>
          <p:nvPr/>
        </p:nvSpPr>
        <p:spPr>
          <a:xfrm>
            <a:off x="3048681" y="97016"/>
            <a:ext cx="60946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Modelado de los datos </a:t>
            </a:r>
          </a:p>
          <a:p>
            <a:pPr algn="ctr"/>
            <a:endParaRPr lang="es-CO" dirty="0">
              <a:solidFill>
                <a:srgbClr val="A08EF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67B8DB-EDCB-6FA3-33F3-9750F0247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638" y="518060"/>
            <a:ext cx="7058723" cy="537130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1575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9E8EA-9569-AD2E-3195-DFF03513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7F7C4F73-BDFA-4A6A-7E36-E5C309D680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38B912B-0FE9-466F-E538-7EAD31743EA4}"/>
              </a:ext>
            </a:extLst>
          </p:cNvPr>
          <p:cNvSpPr txBox="1"/>
          <p:nvPr/>
        </p:nvSpPr>
        <p:spPr>
          <a:xfrm>
            <a:off x="3048681" y="296495"/>
            <a:ext cx="60946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Despliegue</a:t>
            </a:r>
            <a:r>
              <a:rPr lang="es-ES" sz="18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 </a:t>
            </a:r>
          </a:p>
          <a:p>
            <a:pPr algn="ctr"/>
            <a:endParaRPr lang="es-CO" dirty="0">
              <a:solidFill>
                <a:srgbClr val="A08EF1"/>
              </a:solidFill>
            </a:endParaRPr>
          </a:p>
        </p:txBody>
      </p:sp>
      <p:pic>
        <p:nvPicPr>
          <p:cNvPr id="4" name="Imagen 3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5260F34E-8EB9-7292-4A54-8959948BA72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4" t="17250" r="4974"/>
          <a:stretch/>
        </p:blipFill>
        <p:spPr>
          <a:xfrm>
            <a:off x="1676400" y="1275740"/>
            <a:ext cx="8839200" cy="43065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473954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1C2BA-DAA7-285F-36F1-4E9284323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82B7238-4683-A0E7-333A-8422555806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CE65A35-F407-1767-1676-5CAD3CD554D5}"/>
              </a:ext>
            </a:extLst>
          </p:cNvPr>
          <p:cNvSpPr txBox="1"/>
          <p:nvPr/>
        </p:nvSpPr>
        <p:spPr>
          <a:xfrm>
            <a:off x="3048681" y="175497"/>
            <a:ext cx="60946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Resultado </a:t>
            </a:r>
            <a:r>
              <a:rPr lang="es-ES" sz="3000" b="1" dirty="0" smtClean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de la predicción</a:t>
            </a:r>
            <a:endParaRPr lang="es-ES" sz="3000" b="1" dirty="0">
              <a:solidFill>
                <a:srgbClr val="A08EF1"/>
              </a:solidFill>
              <a:latin typeface="Arial" panose="020B0604020202020204" pitchFamily="34" charset="0"/>
              <a:ea typeface="Roboto Black" panose="02000000000000000000" pitchFamily="2" charset="0"/>
              <a:cs typeface="Arial" panose="020B0604020202020204" pitchFamily="34" charset="0"/>
            </a:endParaRPr>
          </a:p>
          <a:p>
            <a:pPr algn="ctr"/>
            <a:endParaRPr lang="es-CO" dirty="0">
              <a:solidFill>
                <a:srgbClr val="A08EF1"/>
              </a:solidFill>
            </a:endParaRPr>
          </a:p>
        </p:txBody>
      </p:sp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D41F2153-30A6-9384-E65B-42A5F0F049E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" t="16403" r="2557"/>
          <a:stretch/>
        </p:blipFill>
        <p:spPr>
          <a:xfrm>
            <a:off x="1417983" y="1181991"/>
            <a:ext cx="9344620" cy="431513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977991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1C2BA-DAA7-285F-36F1-4E9284323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82B7238-4683-A0E7-333A-8422555806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CE65A35-F407-1767-1676-5CAD3CD554D5}"/>
              </a:ext>
            </a:extLst>
          </p:cNvPr>
          <p:cNvSpPr txBox="1"/>
          <p:nvPr/>
        </p:nvSpPr>
        <p:spPr>
          <a:xfrm>
            <a:off x="3048681" y="175497"/>
            <a:ext cx="60946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000" b="1" dirty="0" smtClean="0">
                <a:solidFill>
                  <a:srgbClr val="A08EF1"/>
                </a:solidFill>
                <a:latin typeface="Arial" panose="020B0604020202020204" pitchFamily="34" charset="0"/>
                <a:ea typeface="Roboto Black" panose="02000000000000000000" pitchFamily="2" charset="0"/>
                <a:cs typeface="Arial" panose="020B0604020202020204" pitchFamily="34" charset="0"/>
              </a:rPr>
              <a:t>Tabla final (primeras 4 filas)</a:t>
            </a:r>
            <a:endParaRPr lang="es-ES" sz="3000" b="1" dirty="0">
              <a:solidFill>
                <a:srgbClr val="A08EF1"/>
              </a:solidFill>
              <a:latin typeface="Arial" panose="020B0604020202020204" pitchFamily="34" charset="0"/>
              <a:ea typeface="Roboto Black" panose="02000000000000000000" pitchFamily="2" charset="0"/>
              <a:cs typeface="Arial" panose="020B0604020202020204" pitchFamily="34" charset="0"/>
            </a:endParaRPr>
          </a:p>
          <a:p>
            <a:pPr algn="ctr"/>
            <a:endParaRPr lang="es-CO" dirty="0">
              <a:solidFill>
                <a:srgbClr val="A08EF1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4"/>
          <a:srcRect t="1283"/>
          <a:stretch/>
        </p:blipFill>
        <p:spPr>
          <a:xfrm>
            <a:off x="384317" y="1113183"/>
            <a:ext cx="8269358" cy="469263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5"/>
          <a:srcRect b="996"/>
          <a:stretch/>
        </p:blipFill>
        <p:spPr>
          <a:xfrm>
            <a:off x="8580784" y="1113183"/>
            <a:ext cx="3299790" cy="46780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593348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DF6CD-C980-64A6-FC9E-7032BAA8F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69C20D0-9803-62AB-A5A9-E97D443601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79C30EF-9623-6FCD-E66D-BF5B3DCC134E}"/>
              </a:ext>
            </a:extLst>
          </p:cNvPr>
          <p:cNvSpPr txBox="1"/>
          <p:nvPr/>
        </p:nvSpPr>
        <p:spPr>
          <a:xfrm>
            <a:off x="3048681" y="216225"/>
            <a:ext cx="6094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400" dirty="0">
                <a:solidFill>
                  <a:srgbClr val="A08EF1"/>
                </a:solidFill>
              </a:rPr>
              <a:t>Estructura del proyecto: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39930C-E560-B922-141C-C2DE9D686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267" y="677890"/>
            <a:ext cx="2912885" cy="55113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130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ema de Office">
  <a:themeElements>
    <a:clrScheme name="LINDO LINDO">
      <a:dk1>
        <a:sysClr val="windowText" lastClr="000000"/>
      </a:dk1>
      <a:lt1>
        <a:sysClr val="window" lastClr="FFFFFF"/>
      </a:lt1>
      <a:dk2>
        <a:srgbClr val="142F50"/>
      </a:dk2>
      <a:lt2>
        <a:srgbClr val="F9F8F3"/>
      </a:lt2>
      <a:accent1>
        <a:srgbClr val="38A4D4"/>
      </a:accent1>
      <a:accent2>
        <a:srgbClr val="F6F25C"/>
      </a:accent2>
      <a:accent3>
        <a:srgbClr val="FCA810"/>
      </a:accent3>
      <a:accent4>
        <a:srgbClr val="EF255F"/>
      </a:accent4>
      <a:accent5>
        <a:srgbClr val="22B183"/>
      </a:accent5>
      <a:accent6>
        <a:srgbClr val="8C54B6"/>
      </a:accent6>
      <a:hlink>
        <a:srgbClr val="39BCD2"/>
      </a:hlink>
      <a:folHlink>
        <a:srgbClr val="8963A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2337</TotalTime>
  <Words>584</Words>
  <Application>Microsoft Office PowerPoint</Application>
  <PresentationFormat>Panorámica</PresentationFormat>
  <Paragraphs>77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Roboto</vt:lpstr>
      <vt:lpstr>Roboto Black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INTRODUCTORIO SEMANA 1</dc:title>
  <dc:creator>Ana Maria Salazar</dc:creator>
  <cp:lastModifiedBy>equipo</cp:lastModifiedBy>
  <cp:revision>58</cp:revision>
  <dcterms:created xsi:type="dcterms:W3CDTF">2024-01-29T20:34:43Z</dcterms:created>
  <dcterms:modified xsi:type="dcterms:W3CDTF">2025-08-23T12:39:24Z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D82F9886-3FD5-42EB-B509-1BFBAE8A1A25</vt:lpwstr>
  </property>
  <property fmtid="{D5CDD505-2E9C-101B-9397-08002B2CF9AE}" pid="3" name="ArticulatePath">
    <vt:lpwstr>Semana1_Videoclase_empaquesyembalajes_V3_David</vt:lpwstr>
  </property>
  <property fmtid="{D5CDD505-2E9C-101B-9397-08002B2CF9AE}" pid="4" name="MSIP_Label_fc111285-cafa-4fc9-8a9a-bd902089b24f_Enabled">
    <vt:lpwstr>true</vt:lpwstr>
  </property>
  <property fmtid="{D5CDD505-2E9C-101B-9397-08002B2CF9AE}" pid="5" name="MSIP_Label_fc111285-cafa-4fc9-8a9a-bd902089b24f_SetDate">
    <vt:lpwstr>2025-07-01T13:05:37Z</vt:lpwstr>
  </property>
  <property fmtid="{D5CDD505-2E9C-101B-9397-08002B2CF9AE}" pid="6" name="MSIP_Label_fc111285-cafa-4fc9-8a9a-bd902089b24f_Method">
    <vt:lpwstr>Privileged</vt:lpwstr>
  </property>
  <property fmtid="{D5CDD505-2E9C-101B-9397-08002B2CF9AE}" pid="7" name="MSIP_Label_fc111285-cafa-4fc9-8a9a-bd902089b24f_Name">
    <vt:lpwstr>Public</vt:lpwstr>
  </property>
  <property fmtid="{D5CDD505-2E9C-101B-9397-08002B2CF9AE}" pid="8" name="MSIP_Label_fc111285-cafa-4fc9-8a9a-bd902089b24f_SiteId">
    <vt:lpwstr>cbc2c381-2f2e-4d93-91d1-506c9316ace7</vt:lpwstr>
  </property>
  <property fmtid="{D5CDD505-2E9C-101B-9397-08002B2CF9AE}" pid="9" name="MSIP_Label_fc111285-cafa-4fc9-8a9a-bd902089b24f_ActionId">
    <vt:lpwstr>73fd4af2-d571-43c2-b053-cba03ebf9672</vt:lpwstr>
  </property>
  <property fmtid="{D5CDD505-2E9C-101B-9397-08002B2CF9AE}" pid="10" name="MSIP_Label_fc111285-cafa-4fc9-8a9a-bd902089b24f_ContentBits">
    <vt:lpwstr>0</vt:lpwstr>
  </property>
  <property fmtid="{D5CDD505-2E9C-101B-9397-08002B2CF9AE}" pid="11" name="MSIP_Label_fc111285-cafa-4fc9-8a9a-bd902089b24f_Tag">
    <vt:lpwstr>10, 0, 1, 1</vt:lpwstr>
  </property>
</Properties>
</file>